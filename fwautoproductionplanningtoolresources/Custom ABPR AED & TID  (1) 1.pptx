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Espaço Reservado para Texto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Espaço Reservado para Texto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Espaço Reservado para Imagem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hyperlink" Target="http://BA-HIST01.CIS.PG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60"/>
          <p:cNvSpPr/>
          <p:nvPr/>
        </p:nvSpPr>
        <p:spPr>
          <a:xfrm>
            <a:off x="1273271" y="574639"/>
            <a:ext cx="9874058" cy="6277579"/>
          </a:xfrm>
          <a:prstGeom prst="rect">
            <a:avLst/>
          </a:prstGeom>
          <a:solidFill>
            <a:srgbClr val="FFFFFF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" name="Straight Connector 12"/>
          <p:cNvSpPr/>
          <p:nvPr/>
        </p:nvSpPr>
        <p:spPr>
          <a:xfrm flipV="1">
            <a:off x="6432380" y="4239235"/>
            <a:ext cx="1" cy="1391581"/>
          </a:xfrm>
          <a:prstGeom prst="line">
            <a:avLst/>
          </a:pr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" name="Título 1"/>
          <p:cNvSpPr txBox="1">
            <a:spLocks noGrp="1"/>
          </p:cNvSpPr>
          <p:nvPr>
            <p:ph type="title"/>
          </p:nvPr>
        </p:nvSpPr>
        <p:spPr>
          <a:xfrm>
            <a:off x="712425" y="49652"/>
            <a:ext cx="10515601" cy="530771"/>
          </a:xfrm>
          <a:prstGeom prst="rect">
            <a:avLst/>
          </a:prstGeom>
        </p:spPr>
        <p:txBody>
          <a:bodyPr/>
          <a:lstStyle>
            <a:lvl1pPr algn="ctr" defTabSz="822959">
              <a:defRPr sz="2880">
                <a:solidFill>
                  <a:schemeClr val="accent1"/>
                </a:solidFill>
                <a:effectLst>
                  <a:outerShdw blurRad="34289" dist="22860" dir="5400000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t> Baddi Custom ABPR Report System Application Environment Diagram</a:t>
            </a:r>
          </a:p>
        </p:txBody>
      </p:sp>
      <p:sp>
        <p:nvSpPr>
          <p:cNvPr id="97" name="Oval 8"/>
          <p:cNvSpPr/>
          <p:nvPr/>
        </p:nvSpPr>
        <p:spPr>
          <a:xfrm>
            <a:off x="6249013" y="5579117"/>
            <a:ext cx="678875" cy="637312"/>
          </a:xfrm>
          <a:prstGeom prst="ellipse">
            <a:avLst/>
          </a:prstGeom>
          <a:gradFill>
            <a:gsLst>
              <a:gs pos="0">
                <a:schemeClr val="accent6">
                  <a:hueOff val="286552"/>
                  <a:satOff val="-5983"/>
                  <a:lumOff val="26183"/>
                </a:schemeClr>
              </a:gs>
              <a:gs pos="50000">
                <a:srgbClr val="A9CD97"/>
              </a:gs>
              <a:gs pos="100000">
                <a:schemeClr val="accent6">
                  <a:hueOff val="266558"/>
                  <a:satOff val="-2836"/>
                  <a:lumOff val="17637"/>
                </a:schemeClr>
              </a:gs>
            </a:gsLst>
            <a:lin ang="5400000"/>
          </a:gradFill>
          <a:ln w="6350">
            <a:solidFill>
              <a:schemeClr val="accent6"/>
            </a:solidFill>
            <a:miter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98" name="Straight Connector 12"/>
          <p:cNvSpPr/>
          <p:nvPr/>
        </p:nvSpPr>
        <p:spPr>
          <a:xfrm>
            <a:off x="6828467" y="4122035"/>
            <a:ext cx="1" cy="1550415"/>
          </a:xfrm>
          <a:prstGeom prst="line">
            <a:avLst/>
          </a:pr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01" name="Group 4"/>
          <p:cNvGrpSpPr/>
          <p:nvPr/>
        </p:nvGrpSpPr>
        <p:grpSpPr>
          <a:xfrm>
            <a:off x="9443684" y="5052838"/>
            <a:ext cx="1364167" cy="371359"/>
            <a:chOff x="0" y="0"/>
            <a:chExt cx="1364165" cy="371358"/>
          </a:xfrm>
        </p:grpSpPr>
        <p:sp>
          <p:nvSpPr>
            <p:cNvPr id="99" name="Oval 5"/>
            <p:cNvSpPr/>
            <p:nvPr/>
          </p:nvSpPr>
          <p:spPr>
            <a:xfrm>
              <a:off x="0" y="0"/>
              <a:ext cx="382161" cy="371359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hueOff val="286552"/>
                    <a:satOff val="-5983"/>
                    <a:lumOff val="26183"/>
                  </a:schemeClr>
                </a:gs>
                <a:gs pos="50000">
                  <a:srgbClr val="A9CD97"/>
                </a:gs>
                <a:gs pos="100000">
                  <a:schemeClr val="accent6">
                    <a:hueOff val="266558"/>
                    <a:satOff val="-2836"/>
                    <a:lumOff val="17637"/>
                  </a:schemeClr>
                </a:gs>
              </a:gsLst>
              <a:lin ang="5400000" scaled="0"/>
            </a:gradFill>
            <a:ln w="6350" cap="flat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00" name="TextBox 6"/>
            <p:cNvSpPr txBox="1"/>
            <p:nvPr/>
          </p:nvSpPr>
          <p:spPr>
            <a:xfrm>
              <a:off x="372637" y="11289"/>
              <a:ext cx="991529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t>User Role</a:t>
              </a:r>
            </a:p>
          </p:txBody>
        </p:sp>
      </p:grpSp>
      <p:grpSp>
        <p:nvGrpSpPr>
          <p:cNvPr id="104" name="Rectangle 19"/>
          <p:cNvGrpSpPr/>
          <p:nvPr/>
        </p:nvGrpSpPr>
        <p:grpSpPr>
          <a:xfrm>
            <a:off x="9505171" y="6218921"/>
            <a:ext cx="1252713" cy="371358"/>
            <a:chOff x="0" y="0"/>
            <a:chExt cx="1252712" cy="371357"/>
          </a:xfrm>
        </p:grpSpPr>
        <p:sp>
          <p:nvSpPr>
            <p:cNvPr id="102" name="Rectangle"/>
            <p:cNvSpPr/>
            <p:nvPr/>
          </p:nvSpPr>
          <p:spPr>
            <a:xfrm>
              <a:off x="-1" y="-1"/>
              <a:ext cx="1252714" cy="371359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3" name="Application"/>
            <p:cNvSpPr txBox="1"/>
            <p:nvPr/>
          </p:nvSpPr>
          <p:spPr>
            <a:xfrm>
              <a:off x="52069" y="19134"/>
              <a:ext cx="1148574" cy="3330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Application</a:t>
              </a:r>
            </a:p>
          </p:txBody>
        </p:sp>
      </p:grpSp>
      <p:sp>
        <p:nvSpPr>
          <p:cNvPr id="105" name="Retângulo: Cantos Arredondados 45"/>
          <p:cNvSpPr/>
          <p:nvPr/>
        </p:nvSpPr>
        <p:spPr>
          <a:xfrm>
            <a:off x="9242746" y="4435333"/>
            <a:ext cx="1715604" cy="2332392"/>
          </a:xfrm>
          <a:prstGeom prst="roundRect">
            <a:avLst>
              <a:gd name="adj" fmla="val 16667"/>
            </a:avLst>
          </a:prstGeom>
          <a:ln w="38100">
            <a:solidFill>
              <a:schemeClr val="accent4"/>
            </a:solidFill>
            <a:prstDash val="sysDash"/>
            <a:miter/>
          </a:ln>
        </p:spPr>
        <p:txBody>
          <a:bodyPr lIns="45719" rIns="45719" anchor="ctr"/>
          <a:lstStyle/>
          <a:p>
            <a:pPr algn="ctr"/>
            <a:endParaRPr/>
          </a:p>
        </p:txBody>
      </p:sp>
      <p:grpSp>
        <p:nvGrpSpPr>
          <p:cNvPr id="108" name="Rectangle 25"/>
          <p:cNvGrpSpPr/>
          <p:nvPr/>
        </p:nvGrpSpPr>
        <p:grpSpPr>
          <a:xfrm>
            <a:off x="9490530" y="5862852"/>
            <a:ext cx="1252713" cy="371358"/>
            <a:chOff x="0" y="0"/>
            <a:chExt cx="1252712" cy="371357"/>
          </a:xfrm>
        </p:grpSpPr>
        <p:sp>
          <p:nvSpPr>
            <p:cNvPr id="106" name="Rectangle"/>
            <p:cNvSpPr/>
            <p:nvPr/>
          </p:nvSpPr>
          <p:spPr>
            <a:xfrm>
              <a:off x="-1" y="-1"/>
              <a:ext cx="1252714" cy="371359"/>
            </a:xfrm>
            <a:prstGeom prst="rect">
              <a:avLst/>
            </a:prstGeom>
            <a:solidFill>
              <a:srgbClr val="BDD7EE"/>
            </a:solidFill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7" name="Module"/>
            <p:cNvSpPr txBox="1"/>
            <p:nvPr/>
          </p:nvSpPr>
          <p:spPr>
            <a:xfrm>
              <a:off x="52069" y="19134"/>
              <a:ext cx="1148574" cy="3330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Module</a:t>
              </a:r>
            </a:p>
          </p:txBody>
        </p:sp>
      </p:grpSp>
      <p:sp>
        <p:nvSpPr>
          <p:cNvPr id="109" name="TextBox 28"/>
          <p:cNvSpPr txBox="1"/>
          <p:nvPr/>
        </p:nvSpPr>
        <p:spPr>
          <a:xfrm>
            <a:off x="9799553" y="4669626"/>
            <a:ext cx="880873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t>Legend</a:t>
            </a:r>
          </a:p>
        </p:txBody>
      </p:sp>
      <p:grpSp>
        <p:nvGrpSpPr>
          <p:cNvPr id="112" name="Group 10"/>
          <p:cNvGrpSpPr/>
          <p:nvPr/>
        </p:nvGrpSpPr>
        <p:grpSpPr>
          <a:xfrm>
            <a:off x="1374376" y="1230213"/>
            <a:ext cx="1163859" cy="637311"/>
            <a:chOff x="0" y="0"/>
            <a:chExt cx="1163858" cy="637310"/>
          </a:xfrm>
        </p:grpSpPr>
        <p:sp>
          <p:nvSpPr>
            <p:cNvPr id="110" name="Oval 31"/>
            <p:cNvSpPr/>
            <p:nvPr/>
          </p:nvSpPr>
          <p:spPr>
            <a:xfrm>
              <a:off x="289762" y="0"/>
              <a:ext cx="616393" cy="637311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hueOff val="286552"/>
                    <a:satOff val="-5983"/>
                    <a:lumOff val="26183"/>
                  </a:schemeClr>
                </a:gs>
                <a:gs pos="50000">
                  <a:srgbClr val="A9CD97"/>
                </a:gs>
                <a:gs pos="100000">
                  <a:schemeClr val="accent6">
                    <a:hueOff val="266558"/>
                    <a:satOff val="-2836"/>
                    <a:lumOff val="17637"/>
                  </a:schemeClr>
                </a:gs>
              </a:gsLst>
              <a:lin ang="5400000" scaled="0"/>
            </a:gradFill>
            <a:ln w="6350" cap="flat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11" name="TextBox 32"/>
            <p:cNvSpPr/>
            <p:nvPr/>
          </p:nvSpPr>
          <p:spPr>
            <a:xfrm>
              <a:off x="0" y="608324"/>
              <a:ext cx="1163859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100"/>
              </a:lvl1pPr>
            </a:lstStyle>
            <a:p>
              <a:r>
                <a:t>HC Making Dept. USER/Employee From P&amp;G</a:t>
              </a:r>
            </a:p>
          </p:txBody>
        </p:sp>
      </p:grpSp>
      <p:sp>
        <p:nvSpPr>
          <p:cNvPr id="113" name="TextBox 13"/>
          <p:cNvSpPr txBox="1"/>
          <p:nvPr/>
        </p:nvSpPr>
        <p:spPr>
          <a:xfrm>
            <a:off x="4285804" y="982882"/>
            <a:ext cx="1211344" cy="48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/>
            </a:lvl1pPr>
          </a:lstStyle>
          <a:p>
            <a:r>
              <a:t>Select Report information about areas[Manually] </a:t>
            </a:r>
          </a:p>
        </p:txBody>
      </p:sp>
      <p:sp>
        <p:nvSpPr>
          <p:cNvPr id="114" name="TextBox 13"/>
          <p:cNvSpPr txBox="1"/>
          <p:nvPr/>
        </p:nvSpPr>
        <p:spPr>
          <a:xfrm>
            <a:off x="4154628" y="1649958"/>
            <a:ext cx="1473697" cy="48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/>
            </a:lvl1pPr>
          </a:lstStyle>
          <a:p>
            <a:r>
              <a:t>View ABPR Reports information in graphs and tables(*excel)[Manually]</a:t>
            </a:r>
          </a:p>
        </p:txBody>
      </p:sp>
      <p:grpSp>
        <p:nvGrpSpPr>
          <p:cNvPr id="117" name="Rectangle: Rounded Corners 35"/>
          <p:cNvGrpSpPr/>
          <p:nvPr/>
        </p:nvGrpSpPr>
        <p:grpSpPr>
          <a:xfrm>
            <a:off x="3023957" y="1258855"/>
            <a:ext cx="1215493" cy="563296"/>
            <a:chOff x="0" y="0"/>
            <a:chExt cx="1215491" cy="563294"/>
          </a:xfrm>
        </p:grpSpPr>
        <p:sp>
          <p:nvSpPr>
            <p:cNvPr id="115" name="Rounded Rectangle"/>
            <p:cNvSpPr/>
            <p:nvPr/>
          </p:nvSpPr>
          <p:spPr>
            <a:xfrm>
              <a:off x="0" y="0"/>
              <a:ext cx="1215492" cy="563295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chemeClr val="accent3">
                    <a:lumOff val="17344"/>
                  </a:schemeClr>
                </a:gs>
                <a:gs pos="50000">
                  <a:srgbClr val="C7C7C7"/>
                </a:gs>
                <a:gs pos="100000">
                  <a:schemeClr val="accent3">
                    <a:lumOff val="10616"/>
                  </a:schemeClr>
                </a:gs>
              </a:gsLst>
              <a:lin ang="5400000" scaled="0"/>
            </a:gradFill>
            <a:ln w="6350" cap="flat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16" name="Web browser"/>
            <p:cNvSpPr/>
            <p:nvPr/>
          </p:nvSpPr>
          <p:spPr>
            <a:xfrm>
              <a:off x="76392" y="281647"/>
              <a:ext cx="106270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/>
              </a:lvl1pPr>
            </a:lstStyle>
            <a:p>
              <a:r>
                <a:t>Web browser</a:t>
              </a:r>
            </a:p>
          </p:txBody>
        </p:sp>
      </p:grpSp>
      <p:grpSp>
        <p:nvGrpSpPr>
          <p:cNvPr id="120" name="Rectangle: Rounded Corners 39"/>
          <p:cNvGrpSpPr/>
          <p:nvPr/>
        </p:nvGrpSpPr>
        <p:grpSpPr>
          <a:xfrm>
            <a:off x="9490530" y="5489171"/>
            <a:ext cx="1252713" cy="357220"/>
            <a:chOff x="0" y="0"/>
            <a:chExt cx="1252712" cy="357218"/>
          </a:xfrm>
        </p:grpSpPr>
        <p:sp>
          <p:nvSpPr>
            <p:cNvPr id="118" name="Rounded Rectangle"/>
            <p:cNvSpPr/>
            <p:nvPr/>
          </p:nvSpPr>
          <p:spPr>
            <a:xfrm>
              <a:off x="0" y="0"/>
              <a:ext cx="1252713" cy="357219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chemeClr val="accent3">
                    <a:lumOff val="17344"/>
                  </a:schemeClr>
                </a:gs>
                <a:gs pos="50000">
                  <a:srgbClr val="C7C7C7"/>
                </a:gs>
                <a:gs pos="100000">
                  <a:schemeClr val="accent3">
                    <a:lumOff val="10616"/>
                  </a:schemeClr>
                </a:gs>
              </a:gsLst>
              <a:lin ang="5400000" scaled="0"/>
            </a:gradFill>
            <a:ln w="6350" cap="flat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19" name="Device"/>
            <p:cNvSpPr txBox="1"/>
            <p:nvPr/>
          </p:nvSpPr>
          <p:spPr>
            <a:xfrm>
              <a:off x="66332" y="12065"/>
              <a:ext cx="1120048" cy="3330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r>
                <a:t>Device</a:t>
              </a:r>
            </a:p>
          </p:txBody>
        </p:sp>
      </p:grpSp>
      <p:sp>
        <p:nvSpPr>
          <p:cNvPr id="121" name="TextBox 13"/>
          <p:cNvSpPr txBox="1"/>
          <p:nvPr/>
        </p:nvSpPr>
        <p:spPr>
          <a:xfrm>
            <a:off x="5987520" y="4304437"/>
            <a:ext cx="2876981" cy="48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900" b="1"/>
            </a:pPr>
            <a:r>
              <a:t>Role Configuration of </a:t>
            </a:r>
          </a:p>
          <a:p>
            <a:pPr algn="ctr">
              <a:defRPr sz="900" b="1"/>
            </a:pPr>
            <a:r>
              <a:t>Groups and Update </a:t>
            </a:r>
          </a:p>
          <a:p>
            <a:pPr algn="ctr">
              <a:defRPr sz="900" b="1"/>
            </a:pPr>
            <a:r>
              <a:t>Source file  [Manual]</a:t>
            </a:r>
          </a:p>
        </p:txBody>
      </p:sp>
      <p:grpSp>
        <p:nvGrpSpPr>
          <p:cNvPr id="124" name="Rectangle: Rounded Corners 36"/>
          <p:cNvGrpSpPr/>
          <p:nvPr/>
        </p:nvGrpSpPr>
        <p:grpSpPr>
          <a:xfrm>
            <a:off x="5817729" y="4846469"/>
            <a:ext cx="1541444" cy="438376"/>
            <a:chOff x="0" y="0"/>
            <a:chExt cx="1541443" cy="438374"/>
          </a:xfrm>
        </p:grpSpPr>
        <p:sp>
          <p:nvSpPr>
            <p:cNvPr id="122" name="Rounded Rectangle"/>
            <p:cNvSpPr/>
            <p:nvPr/>
          </p:nvSpPr>
          <p:spPr>
            <a:xfrm>
              <a:off x="0" y="0"/>
              <a:ext cx="1541444" cy="438375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chemeClr val="accent3">
                    <a:lumOff val="17344"/>
                  </a:schemeClr>
                </a:gs>
                <a:gs pos="50000">
                  <a:srgbClr val="C7C7C7"/>
                </a:gs>
                <a:gs pos="100000">
                  <a:schemeClr val="accent3">
                    <a:lumOff val="10616"/>
                  </a:schemeClr>
                </a:gs>
              </a:gsLst>
              <a:lin ang="5400000" scaled="0"/>
            </a:gradFill>
            <a:ln w="6350" cap="flat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3" name="RDP"/>
            <p:cNvSpPr txBox="1"/>
            <p:nvPr/>
          </p:nvSpPr>
          <p:spPr>
            <a:xfrm>
              <a:off x="70294" y="52643"/>
              <a:ext cx="1400855" cy="3330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r>
                <a:t>RDP</a:t>
              </a:r>
            </a:p>
          </p:txBody>
        </p:sp>
      </p:grpSp>
      <p:sp>
        <p:nvSpPr>
          <p:cNvPr id="125" name="TextBox 13"/>
          <p:cNvSpPr txBox="1"/>
          <p:nvPr/>
        </p:nvSpPr>
        <p:spPr>
          <a:xfrm>
            <a:off x="5258668" y="4387369"/>
            <a:ext cx="1674664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900" b="1"/>
            </a:pPr>
            <a:r>
              <a:t>Activities Log </a:t>
            </a:r>
          </a:p>
          <a:p>
            <a:pPr algn="ctr">
              <a:defRPr sz="900" b="1"/>
            </a:pPr>
            <a:r>
              <a:t>[Manual]</a:t>
            </a:r>
          </a:p>
        </p:txBody>
      </p:sp>
      <p:sp>
        <p:nvSpPr>
          <p:cNvPr id="126" name="Rectangle 16"/>
          <p:cNvSpPr/>
          <p:nvPr/>
        </p:nvSpPr>
        <p:spPr>
          <a:xfrm>
            <a:off x="9911356" y="3102365"/>
            <a:ext cx="1121083" cy="896077"/>
          </a:xfrm>
          <a:prstGeom prst="rect">
            <a:avLst/>
          </a:pr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0000"/>
                </a:solidFill>
              </a:defRPr>
            </a:pPr>
            <a:endParaRPr/>
          </a:p>
        </p:txBody>
      </p:sp>
      <p:sp>
        <p:nvSpPr>
          <p:cNvPr id="127" name="TextBox 13"/>
          <p:cNvSpPr txBox="1"/>
          <p:nvPr/>
        </p:nvSpPr>
        <p:spPr>
          <a:xfrm>
            <a:off x="9667478" y="3455458"/>
            <a:ext cx="1514827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TTS</a:t>
            </a:r>
          </a:p>
        </p:txBody>
      </p:sp>
      <p:sp>
        <p:nvSpPr>
          <p:cNvPr id="128" name="Rectangle 51"/>
          <p:cNvSpPr/>
          <p:nvPr/>
        </p:nvSpPr>
        <p:spPr>
          <a:xfrm>
            <a:off x="9679447" y="1204070"/>
            <a:ext cx="1121083" cy="89607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0000"/>
                </a:solidFill>
              </a:defRPr>
            </a:pPr>
            <a:endParaRPr/>
          </a:p>
        </p:txBody>
      </p:sp>
      <p:sp>
        <p:nvSpPr>
          <p:cNvPr id="129" name="TextBox 13"/>
          <p:cNvSpPr txBox="1"/>
          <p:nvPr/>
        </p:nvSpPr>
        <p:spPr>
          <a:xfrm>
            <a:off x="9536250" y="1455528"/>
            <a:ext cx="1514827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GSS (ABPR)</a:t>
            </a:r>
          </a:p>
        </p:txBody>
      </p:sp>
      <p:grpSp>
        <p:nvGrpSpPr>
          <p:cNvPr id="132" name="Rectangle 57"/>
          <p:cNvGrpSpPr/>
          <p:nvPr/>
        </p:nvGrpSpPr>
        <p:grpSpPr>
          <a:xfrm>
            <a:off x="5804584" y="1125450"/>
            <a:ext cx="2016739" cy="3123489"/>
            <a:chOff x="0" y="0"/>
            <a:chExt cx="2016737" cy="3123488"/>
          </a:xfrm>
        </p:grpSpPr>
        <p:sp>
          <p:nvSpPr>
            <p:cNvPr id="130" name="Rectangle"/>
            <p:cNvSpPr/>
            <p:nvPr/>
          </p:nvSpPr>
          <p:spPr>
            <a:xfrm>
              <a:off x="0" y="-1"/>
              <a:ext cx="2016738" cy="3123490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>
                  <a:solidFill>
                    <a:srgbClr val="FF0000"/>
                  </a:solidFill>
                </a:defRPr>
              </a:pPr>
              <a:endParaRPr/>
            </a:p>
          </p:txBody>
        </p:sp>
        <p:sp>
          <p:nvSpPr>
            <p:cNvPr id="131" name="BADDI CUSTOM ABPR REPORT SYSTEM CD"/>
            <p:cNvSpPr txBox="1"/>
            <p:nvPr/>
          </p:nvSpPr>
          <p:spPr>
            <a:xfrm>
              <a:off x="52070" y="358091"/>
              <a:ext cx="1912599" cy="24073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800" b="1">
                  <a:solidFill>
                    <a:srgbClr val="FFFFFF"/>
                  </a:solidFill>
                </a:defRPr>
              </a:lvl1pPr>
            </a:lstStyle>
            <a:p>
              <a:r>
                <a:t>BADDI CUSTOM ABPR REPORT SYSTEM CD </a:t>
              </a:r>
            </a:p>
          </p:txBody>
        </p:sp>
      </p:grpSp>
      <p:sp>
        <p:nvSpPr>
          <p:cNvPr id="133" name="Rectangle 63"/>
          <p:cNvSpPr/>
          <p:nvPr/>
        </p:nvSpPr>
        <p:spPr>
          <a:xfrm>
            <a:off x="11316772" y="2091725"/>
            <a:ext cx="1005761" cy="896077"/>
          </a:xfrm>
          <a:prstGeom prst="rect">
            <a:avLst/>
          </a:pr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0000"/>
                </a:solidFill>
              </a:defRPr>
            </a:pPr>
            <a:endParaRPr/>
          </a:p>
        </p:txBody>
      </p:sp>
      <p:sp>
        <p:nvSpPr>
          <p:cNvPr id="134" name="TextBox 13"/>
          <p:cNvSpPr txBox="1"/>
          <p:nvPr/>
        </p:nvSpPr>
        <p:spPr>
          <a:xfrm>
            <a:off x="11163838" y="2409828"/>
            <a:ext cx="1514827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000" b="1">
                <a:solidFill>
                  <a:srgbClr val="FFFFFF"/>
                </a:solidFill>
              </a:defRPr>
            </a:lvl1pPr>
          </a:lstStyle>
          <a:p>
            <a:r>
              <a:t>PING ID</a:t>
            </a:r>
          </a:p>
        </p:txBody>
      </p:sp>
      <p:sp>
        <p:nvSpPr>
          <p:cNvPr id="135" name="Straight Arrow Connector 65"/>
          <p:cNvSpPr/>
          <p:nvPr/>
        </p:nvSpPr>
        <p:spPr>
          <a:xfrm>
            <a:off x="7825909" y="2600144"/>
            <a:ext cx="3479926" cy="1"/>
          </a:xfrm>
          <a:prstGeom prst="line">
            <a:avLst/>
          </a:prstGeom>
          <a:ln w="6350">
            <a:solidFill>
              <a:srgbClr val="000000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6" name="TextBox 74"/>
          <p:cNvSpPr txBox="1"/>
          <p:nvPr/>
        </p:nvSpPr>
        <p:spPr>
          <a:xfrm>
            <a:off x="8670694" y="2313328"/>
            <a:ext cx="1643774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/>
            </a:lvl1pPr>
          </a:lstStyle>
          <a:p>
            <a:r>
              <a:t>Authentication</a:t>
            </a:r>
          </a:p>
        </p:txBody>
      </p:sp>
      <p:sp>
        <p:nvSpPr>
          <p:cNvPr id="137" name="TextBox 13"/>
          <p:cNvSpPr txBox="1"/>
          <p:nvPr/>
        </p:nvSpPr>
        <p:spPr>
          <a:xfrm>
            <a:off x="5287436" y="6210579"/>
            <a:ext cx="2876981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 b="1"/>
            </a:lvl1pPr>
          </a:lstStyle>
          <a:p>
            <a:r>
              <a:t>Application Technical Admin/Application Vendor from Non-P&amp;G</a:t>
            </a:r>
          </a:p>
        </p:txBody>
      </p:sp>
      <p:sp>
        <p:nvSpPr>
          <p:cNvPr id="138" name="Straight Arrow Connector 76"/>
          <p:cNvSpPr/>
          <p:nvPr/>
        </p:nvSpPr>
        <p:spPr>
          <a:xfrm>
            <a:off x="7821323" y="3640123"/>
            <a:ext cx="2096505" cy="1"/>
          </a:xfrm>
          <a:prstGeom prst="line">
            <a:avLst/>
          </a:prstGeom>
          <a:ln w="6350">
            <a:solidFill>
              <a:srgbClr val="000000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" name="Straight Arrow Connector 88"/>
          <p:cNvSpPr/>
          <p:nvPr/>
        </p:nvSpPr>
        <p:spPr>
          <a:xfrm flipV="1">
            <a:off x="4253815" y="1454543"/>
            <a:ext cx="1546183" cy="2"/>
          </a:xfrm>
          <a:prstGeom prst="line">
            <a:avLst/>
          </a:prstGeom>
          <a:ln w="635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Straight Arrow Connector 92"/>
          <p:cNvSpPr/>
          <p:nvPr/>
        </p:nvSpPr>
        <p:spPr>
          <a:xfrm flipH="1" flipV="1">
            <a:off x="4239448" y="1652109"/>
            <a:ext cx="1560551" cy="1"/>
          </a:xfrm>
          <a:prstGeom prst="line">
            <a:avLst/>
          </a:prstGeom>
          <a:ln w="635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43" name="Rectangle: Rounded Corners 95"/>
          <p:cNvGrpSpPr/>
          <p:nvPr/>
        </p:nvGrpSpPr>
        <p:grpSpPr>
          <a:xfrm>
            <a:off x="3038324" y="2493589"/>
            <a:ext cx="1215493" cy="563296"/>
            <a:chOff x="0" y="0"/>
            <a:chExt cx="1215491" cy="563294"/>
          </a:xfrm>
        </p:grpSpPr>
        <p:sp>
          <p:nvSpPr>
            <p:cNvPr id="141" name="Rounded Rectangle"/>
            <p:cNvSpPr/>
            <p:nvPr/>
          </p:nvSpPr>
          <p:spPr>
            <a:xfrm>
              <a:off x="0" y="0"/>
              <a:ext cx="1215492" cy="563295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chemeClr val="accent3">
                    <a:lumOff val="17344"/>
                  </a:schemeClr>
                </a:gs>
                <a:gs pos="50000">
                  <a:srgbClr val="C7C7C7"/>
                </a:gs>
                <a:gs pos="100000">
                  <a:schemeClr val="accent3">
                    <a:lumOff val="10616"/>
                  </a:schemeClr>
                </a:gs>
              </a:gsLst>
              <a:lin ang="5400000" scaled="0"/>
            </a:gradFill>
            <a:ln w="6350" cap="flat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42" name="Web browser"/>
            <p:cNvSpPr/>
            <p:nvPr/>
          </p:nvSpPr>
          <p:spPr>
            <a:xfrm>
              <a:off x="76392" y="281647"/>
              <a:ext cx="106270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/>
              </a:lvl1pPr>
            </a:lstStyle>
            <a:p>
              <a:r>
                <a:t>Web browser</a:t>
              </a:r>
            </a:p>
          </p:txBody>
        </p:sp>
      </p:grpSp>
      <p:sp>
        <p:nvSpPr>
          <p:cNvPr id="144" name="Oval 96"/>
          <p:cNvSpPr/>
          <p:nvPr/>
        </p:nvSpPr>
        <p:spPr>
          <a:xfrm>
            <a:off x="1664138" y="2493589"/>
            <a:ext cx="616395" cy="637311"/>
          </a:xfrm>
          <a:prstGeom prst="ellipse">
            <a:avLst/>
          </a:prstGeom>
          <a:gradFill>
            <a:gsLst>
              <a:gs pos="0">
                <a:schemeClr val="accent6">
                  <a:hueOff val="286552"/>
                  <a:satOff val="-5983"/>
                  <a:lumOff val="26183"/>
                </a:schemeClr>
              </a:gs>
              <a:gs pos="50000">
                <a:srgbClr val="A9CD97"/>
              </a:gs>
              <a:gs pos="100000">
                <a:schemeClr val="accent6">
                  <a:hueOff val="266558"/>
                  <a:satOff val="-2836"/>
                  <a:lumOff val="17637"/>
                </a:schemeClr>
              </a:gs>
            </a:gsLst>
            <a:lin ang="5400000"/>
          </a:gradFill>
          <a:ln w="6350">
            <a:solidFill>
              <a:schemeClr val="accent6"/>
            </a:solidFill>
            <a:miter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45" name="Straight Connector 97"/>
          <p:cNvSpPr/>
          <p:nvPr/>
        </p:nvSpPr>
        <p:spPr>
          <a:xfrm>
            <a:off x="2280531" y="2812243"/>
            <a:ext cx="723879" cy="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6" name="TextBox 98"/>
          <p:cNvSpPr txBox="1"/>
          <p:nvPr/>
        </p:nvSpPr>
        <p:spPr>
          <a:xfrm>
            <a:off x="1399810" y="3102365"/>
            <a:ext cx="1163860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/>
            </a:lvl1pPr>
          </a:lstStyle>
          <a:p>
            <a:r>
              <a:t>Application Admin from HC Making</a:t>
            </a:r>
          </a:p>
        </p:txBody>
      </p:sp>
      <p:sp>
        <p:nvSpPr>
          <p:cNvPr id="147" name="Straight Arrow Connector 99"/>
          <p:cNvSpPr/>
          <p:nvPr/>
        </p:nvSpPr>
        <p:spPr>
          <a:xfrm flipV="1">
            <a:off x="4253815" y="2699940"/>
            <a:ext cx="1546183" cy="2"/>
          </a:xfrm>
          <a:prstGeom prst="line">
            <a:avLst/>
          </a:prstGeom>
          <a:ln w="635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" name="Straight Arrow Connector 100"/>
          <p:cNvSpPr/>
          <p:nvPr/>
        </p:nvSpPr>
        <p:spPr>
          <a:xfrm flipH="1" flipV="1">
            <a:off x="4253816" y="2871691"/>
            <a:ext cx="1563921" cy="8005"/>
          </a:xfrm>
          <a:prstGeom prst="line">
            <a:avLst/>
          </a:prstGeom>
          <a:ln w="635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9" name="TextBox 13"/>
          <p:cNvSpPr txBox="1"/>
          <p:nvPr/>
        </p:nvSpPr>
        <p:spPr>
          <a:xfrm>
            <a:off x="4214084" y="2228278"/>
            <a:ext cx="1354784" cy="48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/>
            </a:lvl1pPr>
          </a:lstStyle>
          <a:p>
            <a:r>
              <a:t>Manage  User Access and graphs set point and batches BCT Set Point</a:t>
            </a:r>
          </a:p>
        </p:txBody>
      </p:sp>
      <p:sp>
        <p:nvSpPr>
          <p:cNvPr id="150" name="TextBox 13"/>
          <p:cNvSpPr txBox="1"/>
          <p:nvPr/>
        </p:nvSpPr>
        <p:spPr>
          <a:xfrm>
            <a:off x="4874366" y="1181875"/>
            <a:ext cx="1211344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/>
            </a:lvl1pPr>
          </a:lstStyle>
          <a:p>
            <a:r>
              <a:t>XML</a:t>
            </a:r>
          </a:p>
        </p:txBody>
      </p:sp>
      <p:sp>
        <p:nvSpPr>
          <p:cNvPr id="151" name="TextBox 13"/>
          <p:cNvSpPr txBox="1"/>
          <p:nvPr/>
        </p:nvSpPr>
        <p:spPr>
          <a:xfrm>
            <a:off x="7618247" y="1148041"/>
            <a:ext cx="2252308" cy="48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900" b="1"/>
            </a:pPr>
            <a:r>
              <a:t> Fetch Making Production System </a:t>
            </a:r>
          </a:p>
          <a:p>
            <a:pPr algn="ctr">
              <a:defRPr sz="900" b="1"/>
            </a:pPr>
            <a:r>
              <a:t>Report Data(SQL Server </a:t>
            </a:r>
          </a:p>
          <a:p>
            <a:pPr algn="ctr">
              <a:defRPr sz="900" b="1"/>
            </a:pPr>
            <a:r>
              <a:t>Reporting Services) ODBC</a:t>
            </a:r>
          </a:p>
        </p:txBody>
      </p:sp>
      <p:sp>
        <p:nvSpPr>
          <p:cNvPr id="152" name="TextBox 13"/>
          <p:cNvSpPr txBox="1"/>
          <p:nvPr/>
        </p:nvSpPr>
        <p:spPr>
          <a:xfrm>
            <a:off x="5026766" y="1640194"/>
            <a:ext cx="1211344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/>
            </a:lvl1pPr>
          </a:lstStyle>
          <a:p>
            <a:r>
              <a:t>XML</a:t>
            </a:r>
          </a:p>
        </p:txBody>
      </p:sp>
      <p:sp>
        <p:nvSpPr>
          <p:cNvPr id="153" name="TextBox 13"/>
          <p:cNvSpPr txBox="1"/>
          <p:nvPr/>
        </p:nvSpPr>
        <p:spPr>
          <a:xfrm>
            <a:off x="5008432" y="2425508"/>
            <a:ext cx="1211344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/>
            </a:lvl1pPr>
          </a:lstStyle>
          <a:p>
            <a:r>
              <a:t>XML</a:t>
            </a:r>
          </a:p>
        </p:txBody>
      </p:sp>
      <p:sp>
        <p:nvSpPr>
          <p:cNvPr id="154" name="TextBox 13"/>
          <p:cNvSpPr txBox="1"/>
          <p:nvPr/>
        </p:nvSpPr>
        <p:spPr>
          <a:xfrm>
            <a:off x="5026766" y="2910124"/>
            <a:ext cx="1211344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/>
            </a:lvl1pPr>
          </a:lstStyle>
          <a:p>
            <a:r>
              <a:t>XML</a:t>
            </a:r>
          </a:p>
        </p:txBody>
      </p:sp>
      <p:sp>
        <p:nvSpPr>
          <p:cNvPr id="155" name="TextBox 13"/>
          <p:cNvSpPr txBox="1"/>
          <p:nvPr/>
        </p:nvSpPr>
        <p:spPr>
          <a:xfrm>
            <a:off x="4154628" y="2914495"/>
            <a:ext cx="1473697" cy="48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/>
            </a:lvl1pPr>
          </a:lstStyle>
          <a:p>
            <a:r>
              <a:t>View ABPR Reports information in graphs and tables(*excel)[Manually]</a:t>
            </a:r>
          </a:p>
        </p:txBody>
      </p:sp>
      <p:sp>
        <p:nvSpPr>
          <p:cNvPr id="156" name="Straight Connector 97"/>
          <p:cNvSpPr/>
          <p:nvPr/>
        </p:nvSpPr>
        <p:spPr>
          <a:xfrm>
            <a:off x="2280531" y="1540503"/>
            <a:ext cx="723879" cy="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7" name="Straight Arrow Connector 99"/>
          <p:cNvSpPr/>
          <p:nvPr/>
        </p:nvSpPr>
        <p:spPr>
          <a:xfrm>
            <a:off x="7905695" y="1622072"/>
            <a:ext cx="1677412" cy="1"/>
          </a:xfrm>
          <a:prstGeom prst="line">
            <a:avLst/>
          </a:prstGeom>
          <a:ln w="635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8" name="TextBox 13"/>
          <p:cNvSpPr txBox="1"/>
          <p:nvPr/>
        </p:nvSpPr>
        <p:spPr>
          <a:xfrm>
            <a:off x="7907682" y="3152844"/>
            <a:ext cx="2252308" cy="48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900" b="1"/>
            </a:pPr>
            <a:r>
              <a:t> Fetch TTS Report Data</a:t>
            </a:r>
          </a:p>
          <a:p>
            <a:pPr algn="ctr">
              <a:defRPr sz="900" b="1"/>
            </a:pPr>
            <a:r>
              <a:t>(SQL Server Reporting Services)  </a:t>
            </a:r>
          </a:p>
          <a:p>
            <a:pPr algn="ctr">
              <a:defRPr sz="900" b="1"/>
            </a:pPr>
            <a:r>
              <a:t>   ODBC</a:t>
            </a:r>
          </a:p>
        </p:txBody>
      </p:sp>
      <p:sp>
        <p:nvSpPr>
          <p:cNvPr id="159" name="Oval 96"/>
          <p:cNvSpPr/>
          <p:nvPr/>
        </p:nvSpPr>
        <p:spPr>
          <a:xfrm>
            <a:off x="1648108" y="3792224"/>
            <a:ext cx="616395" cy="637311"/>
          </a:xfrm>
          <a:prstGeom prst="ellipse">
            <a:avLst/>
          </a:prstGeom>
          <a:gradFill>
            <a:gsLst>
              <a:gs pos="0">
                <a:schemeClr val="accent6">
                  <a:hueOff val="286552"/>
                  <a:satOff val="-5983"/>
                  <a:lumOff val="26183"/>
                </a:schemeClr>
              </a:gs>
              <a:gs pos="50000">
                <a:srgbClr val="A9CD97"/>
              </a:gs>
              <a:gs pos="100000">
                <a:schemeClr val="accent6">
                  <a:hueOff val="266558"/>
                  <a:satOff val="-2836"/>
                  <a:lumOff val="17637"/>
                </a:schemeClr>
              </a:gs>
            </a:gsLst>
            <a:lin ang="5400000"/>
          </a:gradFill>
          <a:ln w="6350">
            <a:solidFill>
              <a:schemeClr val="accent6"/>
            </a:solidFill>
            <a:miter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60" name="TextBox 98"/>
          <p:cNvSpPr txBox="1"/>
          <p:nvPr/>
        </p:nvSpPr>
        <p:spPr>
          <a:xfrm>
            <a:off x="1476010" y="4390598"/>
            <a:ext cx="1163860" cy="555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/>
            </a:lvl1pPr>
          </a:lstStyle>
          <a:p>
            <a:r>
              <a:t> Application Engineer from HC Making From P&amp;G</a:t>
            </a:r>
          </a:p>
        </p:txBody>
      </p:sp>
      <p:grpSp>
        <p:nvGrpSpPr>
          <p:cNvPr id="163" name="Rectangle: Rounded Corners 95"/>
          <p:cNvGrpSpPr/>
          <p:nvPr/>
        </p:nvGrpSpPr>
        <p:grpSpPr>
          <a:xfrm>
            <a:off x="3038324" y="3829231"/>
            <a:ext cx="1215493" cy="563296"/>
            <a:chOff x="0" y="0"/>
            <a:chExt cx="1215491" cy="563294"/>
          </a:xfrm>
        </p:grpSpPr>
        <p:sp>
          <p:nvSpPr>
            <p:cNvPr id="161" name="Rounded Rectangle"/>
            <p:cNvSpPr/>
            <p:nvPr/>
          </p:nvSpPr>
          <p:spPr>
            <a:xfrm>
              <a:off x="0" y="0"/>
              <a:ext cx="1215492" cy="563295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chemeClr val="accent3">
                    <a:lumOff val="17344"/>
                  </a:schemeClr>
                </a:gs>
                <a:gs pos="50000">
                  <a:srgbClr val="C7C7C7"/>
                </a:gs>
                <a:gs pos="100000">
                  <a:schemeClr val="accent3">
                    <a:lumOff val="10616"/>
                  </a:schemeClr>
                </a:gs>
              </a:gsLst>
              <a:lin ang="5400000" scaled="0"/>
            </a:gradFill>
            <a:ln w="6350" cap="flat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62" name="Web browser"/>
            <p:cNvSpPr/>
            <p:nvPr/>
          </p:nvSpPr>
          <p:spPr>
            <a:xfrm>
              <a:off x="76392" y="281647"/>
              <a:ext cx="106270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/>
              </a:lvl1pPr>
            </a:lstStyle>
            <a:p>
              <a:r>
                <a:t>Web browser</a:t>
              </a:r>
            </a:p>
          </p:txBody>
        </p:sp>
      </p:grpSp>
      <p:sp>
        <p:nvSpPr>
          <p:cNvPr id="164" name="Straight Connector 97"/>
          <p:cNvSpPr/>
          <p:nvPr/>
        </p:nvSpPr>
        <p:spPr>
          <a:xfrm>
            <a:off x="2280531" y="4110879"/>
            <a:ext cx="723879" cy="1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" name="Straight Arrow Connector 99"/>
          <p:cNvSpPr/>
          <p:nvPr/>
        </p:nvSpPr>
        <p:spPr>
          <a:xfrm flipV="1">
            <a:off x="4340175" y="3924657"/>
            <a:ext cx="1546183" cy="2"/>
          </a:xfrm>
          <a:prstGeom prst="line">
            <a:avLst/>
          </a:prstGeom>
          <a:ln w="635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Straight Arrow Connector 100"/>
          <p:cNvSpPr/>
          <p:nvPr/>
        </p:nvSpPr>
        <p:spPr>
          <a:xfrm flipH="1" flipV="1">
            <a:off x="4331298" y="4148917"/>
            <a:ext cx="1563921" cy="8004"/>
          </a:xfrm>
          <a:prstGeom prst="line">
            <a:avLst/>
          </a:prstGeom>
          <a:ln w="635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7" name="TextBox 13"/>
          <p:cNvSpPr txBox="1"/>
          <p:nvPr/>
        </p:nvSpPr>
        <p:spPr>
          <a:xfrm>
            <a:off x="4111201" y="3470771"/>
            <a:ext cx="1560550" cy="48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/>
            </a:lvl1pPr>
          </a:lstStyle>
          <a:p>
            <a:r>
              <a:t>Define Engineering Units (Min/Max Value)for Parameter  [Manually] </a:t>
            </a:r>
          </a:p>
        </p:txBody>
      </p:sp>
      <p:sp>
        <p:nvSpPr>
          <p:cNvPr id="168" name="TextBox 13"/>
          <p:cNvSpPr txBox="1"/>
          <p:nvPr/>
        </p:nvSpPr>
        <p:spPr>
          <a:xfrm>
            <a:off x="4154628" y="4172926"/>
            <a:ext cx="1473697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/>
            </a:lvl1pPr>
          </a:lstStyle>
          <a:p>
            <a:r>
              <a:t>View Engineering Units Reports(*excel)[Manually]</a:t>
            </a:r>
          </a:p>
        </p:txBody>
      </p:sp>
      <p:sp>
        <p:nvSpPr>
          <p:cNvPr id="169" name="TextBox 13"/>
          <p:cNvSpPr txBox="1"/>
          <p:nvPr/>
        </p:nvSpPr>
        <p:spPr>
          <a:xfrm>
            <a:off x="5008432" y="3751540"/>
            <a:ext cx="1211344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/>
            </a:lvl1pPr>
          </a:lstStyle>
          <a:p>
            <a:r>
              <a:t>XML</a:t>
            </a:r>
          </a:p>
        </p:txBody>
      </p:sp>
      <p:sp>
        <p:nvSpPr>
          <p:cNvPr id="170" name="TextBox 13"/>
          <p:cNvSpPr txBox="1"/>
          <p:nvPr/>
        </p:nvSpPr>
        <p:spPr>
          <a:xfrm>
            <a:off x="5026907" y="4181312"/>
            <a:ext cx="1211344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/>
            </a:lvl1pPr>
          </a:lstStyle>
          <a:p>
            <a:r>
              <a:t>XML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: Rounded Corners 5"/>
          <p:cNvSpPr/>
          <p:nvPr/>
        </p:nvSpPr>
        <p:spPr>
          <a:xfrm>
            <a:off x="3673338" y="592168"/>
            <a:ext cx="4507895" cy="9190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chemeClr val="accent2"/>
            </a:solidFill>
            <a:prstDash val="dash"/>
            <a:miter/>
          </a:ln>
        </p:spPr>
        <p:txBody>
          <a:bodyPr lIns="45719" rIns="45719" anchor="ctr"/>
          <a:lstStyle/>
          <a:p>
            <a:pPr algn="ctr"/>
            <a:endParaRPr/>
          </a:p>
        </p:txBody>
      </p:sp>
      <p:pic>
        <p:nvPicPr>
          <p:cNvPr id="173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869" y="1005270"/>
            <a:ext cx="269351" cy="269351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TextBox 6"/>
          <p:cNvSpPr txBox="1"/>
          <p:nvPr/>
        </p:nvSpPr>
        <p:spPr>
          <a:xfrm>
            <a:off x="3712851" y="660938"/>
            <a:ext cx="51816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 b="1"/>
            </a:lvl1pPr>
          </a:lstStyle>
          <a:p>
            <a:r>
              <a:t>PGI:AWS</a:t>
            </a:r>
          </a:p>
        </p:txBody>
      </p:sp>
      <p:pic>
        <p:nvPicPr>
          <p:cNvPr id="17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557" y="856954"/>
            <a:ext cx="685357" cy="598206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TextBox 8"/>
          <p:cNvSpPr txBox="1"/>
          <p:nvPr/>
        </p:nvSpPr>
        <p:spPr>
          <a:xfrm>
            <a:off x="5836920" y="1078603"/>
            <a:ext cx="5181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 b="1"/>
            </a:lvl1pPr>
          </a:lstStyle>
          <a:p>
            <a:r>
              <a:rPr dirty="0"/>
              <a:t>MFA</a:t>
            </a:r>
          </a:p>
        </p:txBody>
      </p:sp>
      <p:sp>
        <p:nvSpPr>
          <p:cNvPr id="177" name="Rectangle: Rounded Corners 4"/>
          <p:cNvSpPr/>
          <p:nvPr/>
        </p:nvSpPr>
        <p:spPr>
          <a:xfrm>
            <a:off x="623455" y="1655931"/>
            <a:ext cx="9906892" cy="516291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chemeClr val="accent2"/>
            </a:solidFill>
            <a:prstDash val="dash"/>
            <a:miter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78" name="Rectangle: Rounded Corners 4"/>
          <p:cNvSpPr/>
          <p:nvPr/>
        </p:nvSpPr>
        <p:spPr>
          <a:xfrm>
            <a:off x="1483901" y="2146597"/>
            <a:ext cx="8599915" cy="4526975"/>
          </a:xfrm>
          <a:prstGeom prst="roundRect">
            <a:avLst>
              <a:gd name="adj" fmla="val 15302"/>
            </a:avLst>
          </a:prstGeom>
          <a:solidFill>
            <a:srgbClr val="FFFFFF"/>
          </a:solidFill>
          <a:ln w="28575">
            <a:solidFill>
              <a:schemeClr val="accent2"/>
            </a:solidFill>
            <a:prstDash val="dash"/>
            <a:miter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79" name="Rectangle: Rounded Corners 4"/>
          <p:cNvSpPr/>
          <p:nvPr/>
        </p:nvSpPr>
        <p:spPr>
          <a:xfrm>
            <a:off x="4027292" y="4055569"/>
            <a:ext cx="5743818" cy="2369235"/>
          </a:xfrm>
          <a:prstGeom prst="roundRect">
            <a:avLst>
              <a:gd name="adj" fmla="val 14928"/>
            </a:avLst>
          </a:prstGeom>
          <a:solidFill>
            <a:srgbClr val="FFFFFF"/>
          </a:solidFill>
          <a:ln w="28575">
            <a:solidFill>
              <a:schemeClr val="accent2"/>
            </a:solidFill>
            <a:prstDash val="dash"/>
            <a:miter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80" name="TextBox 12"/>
          <p:cNvSpPr txBox="1"/>
          <p:nvPr/>
        </p:nvSpPr>
        <p:spPr>
          <a:xfrm>
            <a:off x="1813517" y="1697931"/>
            <a:ext cx="518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 b="1"/>
            </a:lvl1pPr>
          </a:lstStyle>
          <a:p>
            <a:r>
              <a:t>PGI</a:t>
            </a:r>
          </a:p>
        </p:txBody>
      </p:sp>
      <p:pic>
        <p:nvPicPr>
          <p:cNvPr id="181" name="Picture 13" descr="Picture 13"/>
          <p:cNvPicPr>
            <a:picLocks noChangeAspect="1"/>
          </p:cNvPicPr>
          <p:nvPr/>
        </p:nvPicPr>
        <p:blipFill>
          <a:blip r:embed="rId4"/>
          <a:srcRect t="22066" b="21518"/>
          <a:stretch>
            <a:fillRect/>
          </a:stretch>
        </p:blipFill>
        <p:spPr>
          <a:xfrm>
            <a:off x="104502" y="2146597"/>
            <a:ext cx="1222231" cy="6895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4" name="Group 14"/>
          <p:cNvGrpSpPr/>
          <p:nvPr/>
        </p:nvGrpSpPr>
        <p:grpSpPr>
          <a:xfrm>
            <a:off x="-155319" y="3659356"/>
            <a:ext cx="1085039" cy="725071"/>
            <a:chOff x="0" y="0"/>
            <a:chExt cx="1085038" cy="725069"/>
          </a:xfrm>
        </p:grpSpPr>
        <p:pic>
          <p:nvPicPr>
            <p:cNvPr id="182" name="Picture 15" descr="Picture 15"/>
            <p:cNvPicPr>
              <a:picLocks noChangeAspect="1"/>
            </p:cNvPicPr>
            <p:nvPr/>
          </p:nvPicPr>
          <p:blipFill>
            <a:blip r:embed="rId5"/>
            <a:srcRect b="24968"/>
            <a:stretch>
              <a:fillRect/>
            </a:stretch>
          </p:blipFill>
          <p:spPr>
            <a:xfrm>
              <a:off x="0" y="126041"/>
              <a:ext cx="700894" cy="5990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3" name="TextBox 16"/>
            <p:cNvSpPr txBox="1"/>
            <p:nvPr/>
          </p:nvSpPr>
          <p:spPr>
            <a:xfrm>
              <a:off x="211958" y="0"/>
              <a:ext cx="873081" cy="228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000" b="1"/>
              </a:lvl1pPr>
            </a:lstStyle>
            <a:p>
              <a:r>
                <a:t>INTERNET</a:t>
              </a:r>
            </a:p>
          </p:txBody>
        </p:sp>
      </p:grpSp>
      <p:pic>
        <p:nvPicPr>
          <p:cNvPr id="185" name="Picture 17" descr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8373" y="3442635"/>
            <a:ext cx="285751" cy="28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Picture 18" descr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3010" y="2403083"/>
            <a:ext cx="285751" cy="285751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Straight Arrow Connector 23"/>
          <p:cNvSpPr/>
          <p:nvPr/>
        </p:nvSpPr>
        <p:spPr>
          <a:xfrm flipV="1">
            <a:off x="118796" y="2654319"/>
            <a:ext cx="1" cy="838816"/>
          </a:xfrm>
          <a:prstGeom prst="line">
            <a:avLst/>
          </a:prstGeom>
          <a:ln w="635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8" name="TextBox 41"/>
          <p:cNvSpPr txBox="1"/>
          <p:nvPr/>
        </p:nvSpPr>
        <p:spPr>
          <a:xfrm>
            <a:off x="135584" y="2741504"/>
            <a:ext cx="87308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/>
            </a:lvl1pPr>
          </a:lstStyle>
          <a:p>
            <a:r>
              <a:t>PGI EDGE FIRWELL</a:t>
            </a:r>
          </a:p>
        </p:txBody>
      </p:sp>
      <p:pic>
        <p:nvPicPr>
          <p:cNvPr id="189" name="Picture 27" descr="Picture 27"/>
          <p:cNvPicPr>
            <a:picLocks noChangeAspect="1"/>
          </p:cNvPicPr>
          <p:nvPr/>
        </p:nvPicPr>
        <p:blipFill>
          <a:blip r:embed="rId7"/>
          <a:srcRect t="18089" b="22533"/>
          <a:stretch>
            <a:fillRect/>
          </a:stretch>
        </p:blipFill>
        <p:spPr>
          <a:xfrm>
            <a:off x="3469763" y="3592619"/>
            <a:ext cx="817419" cy="377962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Straight Arrow Connector 52"/>
          <p:cNvSpPr/>
          <p:nvPr/>
        </p:nvSpPr>
        <p:spPr>
          <a:xfrm flipV="1">
            <a:off x="2258188" y="3782467"/>
            <a:ext cx="1240387" cy="20813"/>
          </a:xfrm>
          <a:prstGeom prst="line">
            <a:avLst/>
          </a:prstGeom>
          <a:ln w="635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1" name="TextBox 61"/>
          <p:cNvSpPr txBox="1"/>
          <p:nvPr/>
        </p:nvSpPr>
        <p:spPr>
          <a:xfrm>
            <a:off x="1195671" y="3151625"/>
            <a:ext cx="1838660" cy="277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600" b="1"/>
            </a:lvl1pPr>
          </a:lstStyle>
          <a:p>
            <a:r>
              <a:t>Application Technical Admin/Application Vendor from Non-P&amp;G</a:t>
            </a:r>
          </a:p>
        </p:txBody>
      </p:sp>
      <p:sp>
        <p:nvSpPr>
          <p:cNvPr id="192" name="Connector: Elbow 63"/>
          <p:cNvSpPr/>
          <p:nvPr/>
        </p:nvSpPr>
        <p:spPr>
          <a:xfrm>
            <a:off x="2238787" y="2985522"/>
            <a:ext cx="1366077" cy="6664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277" y="0"/>
                </a:lnTo>
                <a:lnTo>
                  <a:pt x="21277" y="21600"/>
                </a:lnTo>
                <a:lnTo>
                  <a:pt x="21600" y="21600"/>
                </a:lnTo>
              </a:path>
            </a:pathLst>
          </a:custGeom>
          <a:ln w="6350">
            <a:solidFill>
              <a:srgbClr val="000000"/>
            </a:solidFill>
            <a:miter/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3" name="Connector: Elbow 72"/>
          <p:cNvSpPr/>
          <p:nvPr/>
        </p:nvSpPr>
        <p:spPr>
          <a:xfrm flipV="1">
            <a:off x="2106565" y="1595831"/>
            <a:ext cx="3421472" cy="12689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ln w="6350">
            <a:solidFill>
              <a:srgbClr val="000000"/>
            </a:solidFill>
            <a:miter/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196" name="Rectangle 3"/>
          <p:cNvGrpSpPr/>
          <p:nvPr/>
        </p:nvGrpSpPr>
        <p:grpSpPr>
          <a:xfrm>
            <a:off x="4401633" y="4486683"/>
            <a:ext cx="1633068" cy="1088140"/>
            <a:chOff x="0" y="0"/>
            <a:chExt cx="1633066" cy="1088139"/>
          </a:xfrm>
        </p:grpSpPr>
        <p:sp>
          <p:nvSpPr>
            <p:cNvPr id="194" name="Rectangle"/>
            <p:cNvSpPr/>
            <p:nvPr/>
          </p:nvSpPr>
          <p:spPr>
            <a:xfrm>
              <a:off x="-1" y="0"/>
              <a:ext cx="1633068" cy="108814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hueOff val="276587"/>
                    <a:satOff val="-4887"/>
                    <a:lumOff val="24576"/>
                  </a:schemeClr>
                </a:gs>
                <a:gs pos="50000">
                  <a:srgbClr val="98AAD9"/>
                </a:gs>
                <a:gs pos="100000">
                  <a:schemeClr val="accent1">
                    <a:hueOff val="258141"/>
                    <a:satOff val="-1314"/>
                    <a:lumOff val="16637"/>
                  </a:schemeClr>
                </a:gs>
              </a:gsLst>
              <a:lin ang="5400000" scaled="0"/>
            </a:gradFill>
            <a:ln w="635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95" name="Custom ABPR Report System (Application &amp; Database Instance)"/>
            <p:cNvSpPr txBox="1"/>
            <p:nvPr/>
          </p:nvSpPr>
          <p:spPr>
            <a:xfrm>
              <a:off x="63738" y="115343"/>
              <a:ext cx="1505591" cy="735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1000"/>
              </a:lvl1pPr>
            </a:lstStyle>
            <a:p>
              <a:r>
                <a:t> Custom ABPR Report System (Application &amp; Database Instance)</a:t>
              </a:r>
            </a:p>
          </p:txBody>
        </p:sp>
      </p:grpSp>
      <p:pic>
        <p:nvPicPr>
          <p:cNvPr id="197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7550" y="4551564"/>
            <a:ext cx="865336" cy="102065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1" name="Cylinder 1"/>
          <p:cNvGrpSpPr/>
          <p:nvPr/>
        </p:nvGrpSpPr>
        <p:grpSpPr>
          <a:xfrm>
            <a:off x="8369474" y="5020894"/>
            <a:ext cx="685978" cy="605289"/>
            <a:chOff x="-1" y="0"/>
            <a:chExt cx="685977" cy="605288"/>
          </a:xfrm>
        </p:grpSpPr>
        <p:sp>
          <p:nvSpPr>
            <p:cNvPr id="198" name="Shape"/>
            <p:cNvSpPr/>
            <p:nvPr/>
          </p:nvSpPr>
          <p:spPr>
            <a:xfrm>
              <a:off x="-2" y="-1"/>
              <a:ext cx="685979" cy="605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700"/>
                  </a:moveTo>
                  <a:cubicBezTo>
                    <a:pt x="0" y="1209"/>
                    <a:pt x="4835" y="0"/>
                    <a:pt x="10800" y="0"/>
                  </a:cubicBezTo>
                  <a:cubicBezTo>
                    <a:pt x="16765" y="0"/>
                    <a:pt x="21600" y="1209"/>
                    <a:pt x="21600" y="2700"/>
                  </a:cubicBezTo>
                  <a:lnTo>
                    <a:pt x="21600" y="18900"/>
                  </a:lnTo>
                  <a:cubicBezTo>
                    <a:pt x="21600" y="20391"/>
                    <a:pt x="16765" y="21600"/>
                    <a:pt x="10800" y="21600"/>
                  </a:cubicBezTo>
                  <a:cubicBezTo>
                    <a:pt x="4835" y="21600"/>
                    <a:pt x="0" y="20391"/>
                    <a:pt x="0" y="189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99" name="Oval"/>
            <p:cNvSpPr/>
            <p:nvPr/>
          </p:nvSpPr>
          <p:spPr>
            <a:xfrm>
              <a:off x="-1" y="-1"/>
              <a:ext cx="685978" cy="151323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0" name="Line"/>
            <p:cNvSpPr/>
            <p:nvPr/>
          </p:nvSpPr>
          <p:spPr>
            <a:xfrm>
              <a:off x="-2" y="-1"/>
              <a:ext cx="685978" cy="605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700"/>
                  </a:moveTo>
                  <a:cubicBezTo>
                    <a:pt x="21600" y="4191"/>
                    <a:pt x="16765" y="5400"/>
                    <a:pt x="10800" y="5400"/>
                  </a:cubicBezTo>
                  <a:cubicBezTo>
                    <a:pt x="4835" y="5400"/>
                    <a:pt x="0" y="4191"/>
                    <a:pt x="0" y="2700"/>
                  </a:cubicBezTo>
                  <a:cubicBezTo>
                    <a:pt x="0" y="1209"/>
                    <a:pt x="4835" y="0"/>
                    <a:pt x="10800" y="0"/>
                  </a:cubicBezTo>
                  <a:cubicBezTo>
                    <a:pt x="16765" y="0"/>
                    <a:pt x="21600" y="1209"/>
                    <a:pt x="21600" y="2700"/>
                  </a:cubicBezTo>
                  <a:lnTo>
                    <a:pt x="21600" y="18900"/>
                  </a:lnTo>
                  <a:cubicBezTo>
                    <a:pt x="21600" y="20391"/>
                    <a:pt x="16765" y="21600"/>
                    <a:pt x="10800" y="21600"/>
                  </a:cubicBezTo>
                  <a:cubicBezTo>
                    <a:pt x="4835" y="21600"/>
                    <a:pt x="0" y="20391"/>
                    <a:pt x="0" y="18900"/>
                  </a:cubicBezTo>
                  <a:lnTo>
                    <a:pt x="0" y="2700"/>
                  </a:lnTo>
                </a:path>
              </a:pathLst>
            </a:custGeom>
            <a:noFill/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205" name="Cylinder 1"/>
          <p:cNvGrpSpPr/>
          <p:nvPr/>
        </p:nvGrpSpPr>
        <p:grpSpPr>
          <a:xfrm>
            <a:off x="5832182" y="5010757"/>
            <a:ext cx="685978" cy="605289"/>
            <a:chOff x="-1" y="0"/>
            <a:chExt cx="685977" cy="605288"/>
          </a:xfrm>
        </p:grpSpPr>
        <p:sp>
          <p:nvSpPr>
            <p:cNvPr id="202" name="Shape"/>
            <p:cNvSpPr/>
            <p:nvPr/>
          </p:nvSpPr>
          <p:spPr>
            <a:xfrm>
              <a:off x="-2" y="-1"/>
              <a:ext cx="685979" cy="605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700"/>
                  </a:moveTo>
                  <a:cubicBezTo>
                    <a:pt x="0" y="1209"/>
                    <a:pt x="4835" y="0"/>
                    <a:pt x="10800" y="0"/>
                  </a:cubicBezTo>
                  <a:cubicBezTo>
                    <a:pt x="16765" y="0"/>
                    <a:pt x="21600" y="1209"/>
                    <a:pt x="21600" y="2700"/>
                  </a:cubicBezTo>
                  <a:lnTo>
                    <a:pt x="21600" y="18900"/>
                  </a:lnTo>
                  <a:cubicBezTo>
                    <a:pt x="21600" y="20391"/>
                    <a:pt x="16765" y="21600"/>
                    <a:pt x="10800" y="21600"/>
                  </a:cubicBezTo>
                  <a:cubicBezTo>
                    <a:pt x="4835" y="21600"/>
                    <a:pt x="0" y="20391"/>
                    <a:pt x="0" y="189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3" name="Oval"/>
            <p:cNvSpPr/>
            <p:nvPr/>
          </p:nvSpPr>
          <p:spPr>
            <a:xfrm>
              <a:off x="-1" y="-1"/>
              <a:ext cx="685978" cy="151323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4" name="Line"/>
            <p:cNvSpPr/>
            <p:nvPr/>
          </p:nvSpPr>
          <p:spPr>
            <a:xfrm>
              <a:off x="-2" y="-1"/>
              <a:ext cx="685978" cy="605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700"/>
                  </a:moveTo>
                  <a:cubicBezTo>
                    <a:pt x="21600" y="4191"/>
                    <a:pt x="16765" y="5400"/>
                    <a:pt x="10800" y="5400"/>
                  </a:cubicBezTo>
                  <a:cubicBezTo>
                    <a:pt x="4835" y="5400"/>
                    <a:pt x="0" y="4191"/>
                    <a:pt x="0" y="2700"/>
                  </a:cubicBezTo>
                  <a:cubicBezTo>
                    <a:pt x="0" y="1209"/>
                    <a:pt x="4835" y="0"/>
                    <a:pt x="10800" y="0"/>
                  </a:cubicBezTo>
                  <a:cubicBezTo>
                    <a:pt x="16765" y="0"/>
                    <a:pt x="21600" y="1209"/>
                    <a:pt x="21600" y="2700"/>
                  </a:cubicBezTo>
                  <a:lnTo>
                    <a:pt x="21600" y="18900"/>
                  </a:lnTo>
                  <a:cubicBezTo>
                    <a:pt x="21600" y="20391"/>
                    <a:pt x="16765" y="21600"/>
                    <a:pt x="10800" y="21600"/>
                  </a:cubicBezTo>
                  <a:cubicBezTo>
                    <a:pt x="4835" y="21600"/>
                    <a:pt x="0" y="20391"/>
                    <a:pt x="0" y="18900"/>
                  </a:cubicBezTo>
                  <a:lnTo>
                    <a:pt x="0" y="2700"/>
                  </a:lnTo>
                </a:path>
              </a:pathLst>
            </a:custGeom>
            <a:noFill/>
            <a:ln w="12700" cap="flat">
              <a:solidFill>
                <a:srgbClr val="32538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06" name="TextBox 23"/>
          <p:cNvSpPr txBox="1"/>
          <p:nvPr/>
        </p:nvSpPr>
        <p:spPr>
          <a:xfrm>
            <a:off x="7925983" y="5819507"/>
            <a:ext cx="2080962" cy="48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/>
            </a:pPr>
            <a:r>
              <a:t>DB_SERVICE_ENTRY_CONTROL</a:t>
            </a:r>
          </a:p>
          <a:p>
            <a:pPr>
              <a:defRPr sz="900"/>
            </a:pPr>
            <a:r>
              <a:t>SQLServer 13.0</a:t>
            </a:r>
          </a:p>
          <a:p>
            <a:pPr>
              <a:defRPr sz="900"/>
            </a:pPr>
            <a:r>
              <a:t>Database name TTS.db</a:t>
            </a:r>
          </a:p>
        </p:txBody>
      </p:sp>
      <p:sp>
        <p:nvSpPr>
          <p:cNvPr id="207" name="TextBox 8"/>
          <p:cNvSpPr txBox="1"/>
          <p:nvPr/>
        </p:nvSpPr>
        <p:spPr>
          <a:xfrm>
            <a:off x="7859243" y="5625944"/>
            <a:ext cx="170644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/>
            </a:lvl1pPr>
          </a:lstStyle>
          <a:p>
            <a:r>
              <a:t>OS: Windows Server 2016</a:t>
            </a:r>
          </a:p>
        </p:txBody>
      </p:sp>
      <p:sp>
        <p:nvSpPr>
          <p:cNvPr id="208" name="TextBox 8"/>
          <p:cNvSpPr txBox="1"/>
          <p:nvPr/>
        </p:nvSpPr>
        <p:spPr>
          <a:xfrm>
            <a:off x="7976735" y="6221479"/>
            <a:ext cx="197945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/>
            </a:lvl1pPr>
          </a:lstStyle>
          <a:p>
            <a:r>
              <a:t>IP-155.125.173.160</a:t>
            </a:r>
          </a:p>
        </p:txBody>
      </p:sp>
      <p:sp>
        <p:nvSpPr>
          <p:cNvPr id="209" name="TextBox 8"/>
          <p:cNvSpPr txBox="1"/>
          <p:nvPr/>
        </p:nvSpPr>
        <p:spPr>
          <a:xfrm>
            <a:off x="4497004" y="5843218"/>
            <a:ext cx="1574383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/>
            </a:lvl1pPr>
          </a:lstStyle>
          <a:p>
            <a:r>
              <a:t>OS: Windows Server 2016</a:t>
            </a:r>
          </a:p>
        </p:txBody>
      </p:sp>
      <p:sp>
        <p:nvSpPr>
          <p:cNvPr id="210" name="TextBox 8"/>
          <p:cNvSpPr txBox="1"/>
          <p:nvPr/>
        </p:nvSpPr>
        <p:spPr>
          <a:xfrm>
            <a:off x="4664008" y="5702629"/>
            <a:ext cx="1979457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/>
            </a:lvl1pPr>
          </a:lstStyle>
          <a:p>
            <a:r>
              <a:t>IP-155.124.230.20</a:t>
            </a:r>
          </a:p>
        </p:txBody>
      </p:sp>
      <p:sp>
        <p:nvSpPr>
          <p:cNvPr id="211" name="TextBox 18"/>
          <p:cNvSpPr txBox="1"/>
          <p:nvPr/>
        </p:nvSpPr>
        <p:spPr>
          <a:xfrm>
            <a:off x="4364947" y="6097325"/>
            <a:ext cx="17064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hlinkClick r:id="rId9"/>
              </a:defRPr>
            </a:lvl1pPr>
          </a:lstStyle>
          <a:p>
            <a:r>
              <a:rPr>
                <a:hlinkClick r:id="rId9"/>
              </a:rPr>
              <a:t>INB-HCM-HIS01.CIS.PG.COM</a:t>
            </a:r>
          </a:p>
        </p:txBody>
      </p:sp>
      <p:sp>
        <p:nvSpPr>
          <p:cNvPr id="212" name="TextBox 18"/>
          <p:cNvSpPr txBox="1"/>
          <p:nvPr/>
        </p:nvSpPr>
        <p:spPr>
          <a:xfrm>
            <a:off x="3721535" y="5572986"/>
            <a:ext cx="2993264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/>
            </a:pPr>
            <a:r>
              <a:t>https://</a:t>
            </a:r>
            <a:r>
              <a:rPr>
                <a:hlinkClick r:id="rId9"/>
              </a:rPr>
              <a:t>INB-HCM-HIS01.CIS.PG.COM</a:t>
            </a:r>
            <a:r>
              <a:t>/custABPR/</a:t>
            </a:r>
          </a:p>
        </p:txBody>
      </p:sp>
      <p:sp>
        <p:nvSpPr>
          <p:cNvPr id="213" name="Connector: Elbow 106"/>
          <p:cNvSpPr/>
          <p:nvPr/>
        </p:nvSpPr>
        <p:spPr>
          <a:xfrm flipV="1">
            <a:off x="2260678" y="3940154"/>
            <a:ext cx="1363615" cy="7460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21369" y="21600"/>
                </a:lnTo>
              </a:path>
            </a:pathLst>
          </a:custGeom>
          <a:ln w="6350">
            <a:solidFill>
              <a:srgbClr val="000000"/>
            </a:solidFill>
            <a:miter/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14" name="Straight Arrow Connector 110"/>
          <p:cNvSpPr/>
          <p:nvPr/>
        </p:nvSpPr>
        <p:spPr>
          <a:xfrm flipV="1">
            <a:off x="5783858" y="1555512"/>
            <a:ext cx="1" cy="2975551"/>
          </a:xfrm>
          <a:prstGeom prst="line">
            <a:avLst/>
          </a:prstGeom>
          <a:ln w="635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5" name="Connector: Elbow 121"/>
          <p:cNvSpPr/>
          <p:nvPr/>
        </p:nvSpPr>
        <p:spPr>
          <a:xfrm>
            <a:off x="3673338" y="3803279"/>
            <a:ext cx="1455725" cy="7460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ln w="6350">
            <a:solidFill>
              <a:srgbClr val="000000"/>
            </a:solidFill>
            <a:miter/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16" name="Connector: Elbow 126"/>
          <p:cNvSpPr/>
          <p:nvPr/>
        </p:nvSpPr>
        <p:spPr>
          <a:xfrm rot="5400000" flipH="1" flipV="1">
            <a:off x="3565197" y="1703973"/>
            <a:ext cx="2135413" cy="19191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9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6350">
            <a:solidFill>
              <a:srgbClr val="000000"/>
            </a:solidFill>
            <a:miter/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17" name="TextBox 18"/>
          <p:cNvSpPr txBox="1"/>
          <p:nvPr/>
        </p:nvSpPr>
        <p:spPr>
          <a:xfrm>
            <a:off x="5765497" y="2265663"/>
            <a:ext cx="661006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 b="1"/>
            </a:lvl1pPr>
          </a:lstStyle>
          <a:p>
            <a:r>
              <a:t>HTTPS 443</a:t>
            </a:r>
          </a:p>
        </p:txBody>
      </p:sp>
      <p:sp>
        <p:nvSpPr>
          <p:cNvPr id="218" name="TextBox 18"/>
          <p:cNvSpPr txBox="1"/>
          <p:nvPr/>
        </p:nvSpPr>
        <p:spPr>
          <a:xfrm rot="16200000">
            <a:off x="5323233" y="3014325"/>
            <a:ext cx="661006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 b="1"/>
            </a:lvl1pPr>
          </a:lstStyle>
          <a:p>
            <a:r>
              <a:t>HTTPS 443</a:t>
            </a:r>
          </a:p>
        </p:txBody>
      </p:sp>
      <p:sp>
        <p:nvSpPr>
          <p:cNvPr id="219" name="TextBox 18"/>
          <p:cNvSpPr txBox="1"/>
          <p:nvPr/>
        </p:nvSpPr>
        <p:spPr>
          <a:xfrm>
            <a:off x="4109468" y="2665972"/>
            <a:ext cx="661006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 b="1"/>
            </a:lvl1pPr>
          </a:lstStyle>
          <a:p>
            <a:r>
              <a:t>HTTPS 443</a:t>
            </a:r>
          </a:p>
        </p:txBody>
      </p:sp>
      <p:sp>
        <p:nvSpPr>
          <p:cNvPr id="220" name="TextBox 18"/>
          <p:cNvSpPr txBox="1"/>
          <p:nvPr/>
        </p:nvSpPr>
        <p:spPr>
          <a:xfrm>
            <a:off x="2980900" y="2818672"/>
            <a:ext cx="661006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 b="1"/>
            </a:lvl1pPr>
          </a:lstStyle>
          <a:p>
            <a:r>
              <a:t>HTTPS 443</a:t>
            </a:r>
          </a:p>
        </p:txBody>
      </p:sp>
      <p:sp>
        <p:nvSpPr>
          <p:cNvPr id="221" name="TextBox 18"/>
          <p:cNvSpPr txBox="1"/>
          <p:nvPr/>
        </p:nvSpPr>
        <p:spPr>
          <a:xfrm>
            <a:off x="2837801" y="3604605"/>
            <a:ext cx="661006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 b="1"/>
            </a:lvl1pPr>
          </a:lstStyle>
          <a:p>
            <a:r>
              <a:t>HTTPS 443</a:t>
            </a:r>
          </a:p>
        </p:txBody>
      </p:sp>
      <p:sp>
        <p:nvSpPr>
          <p:cNvPr id="222" name="TextBox 18"/>
          <p:cNvSpPr txBox="1"/>
          <p:nvPr/>
        </p:nvSpPr>
        <p:spPr>
          <a:xfrm>
            <a:off x="2906290" y="4391827"/>
            <a:ext cx="661006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 b="1"/>
            </a:lvl1pPr>
          </a:lstStyle>
          <a:p>
            <a:r>
              <a:t>HTTPS 443</a:t>
            </a:r>
          </a:p>
        </p:txBody>
      </p:sp>
      <p:sp>
        <p:nvSpPr>
          <p:cNvPr id="223" name="Connector: Elbow 137"/>
          <p:cNvSpPr/>
          <p:nvPr/>
        </p:nvSpPr>
        <p:spPr>
          <a:xfrm>
            <a:off x="1029463" y="3598509"/>
            <a:ext cx="2747921" cy="22447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2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6350">
            <a:solidFill>
              <a:srgbClr val="000000"/>
            </a:solidFill>
            <a:miter/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24" name="TextBox 18"/>
          <p:cNvSpPr txBox="1"/>
          <p:nvPr/>
        </p:nvSpPr>
        <p:spPr>
          <a:xfrm>
            <a:off x="2900976" y="5019202"/>
            <a:ext cx="609474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 b="1"/>
            </a:lvl1pPr>
          </a:lstStyle>
          <a:p>
            <a:r>
              <a:t>RDP 3389</a:t>
            </a:r>
          </a:p>
        </p:txBody>
      </p:sp>
      <p:sp>
        <p:nvSpPr>
          <p:cNvPr id="225" name="Straight Arrow Connector 150"/>
          <p:cNvSpPr/>
          <p:nvPr/>
        </p:nvSpPr>
        <p:spPr>
          <a:xfrm flipV="1">
            <a:off x="112137" y="2491352"/>
            <a:ext cx="237938" cy="25360"/>
          </a:xfrm>
          <a:prstGeom prst="line">
            <a:avLst/>
          </a:prstGeom>
          <a:ln w="6350">
            <a:solidFill>
              <a:srgbClr val="000000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6" name="Connector: Elbow 154"/>
          <p:cNvSpPr/>
          <p:nvPr/>
        </p:nvSpPr>
        <p:spPr>
          <a:xfrm>
            <a:off x="1105317" y="2403083"/>
            <a:ext cx="971423" cy="211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ln w="6350">
            <a:solidFill>
              <a:srgbClr val="000000"/>
            </a:solidFill>
            <a:miter/>
            <a:headEnd type="triangle"/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27" name="TextBox 158"/>
          <p:cNvSpPr txBox="1"/>
          <p:nvPr/>
        </p:nvSpPr>
        <p:spPr>
          <a:xfrm>
            <a:off x="1640779" y="2188801"/>
            <a:ext cx="518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 b="1"/>
            </a:lvl1pPr>
          </a:lstStyle>
          <a:p>
            <a:r>
              <a:t>PGI</a:t>
            </a:r>
          </a:p>
        </p:txBody>
      </p:sp>
      <p:sp>
        <p:nvSpPr>
          <p:cNvPr id="228" name="TextBox 159"/>
          <p:cNvSpPr txBox="1"/>
          <p:nvPr/>
        </p:nvSpPr>
        <p:spPr>
          <a:xfrm>
            <a:off x="2058792" y="2188799"/>
            <a:ext cx="1218381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 b="1"/>
            </a:lvl1pPr>
          </a:lstStyle>
          <a:p>
            <a:r>
              <a:t>P&amp;G BADDI SITE PGI LAN</a:t>
            </a:r>
          </a:p>
        </p:txBody>
      </p:sp>
      <p:sp>
        <p:nvSpPr>
          <p:cNvPr id="229" name="TextBox 160"/>
          <p:cNvSpPr txBox="1"/>
          <p:nvPr/>
        </p:nvSpPr>
        <p:spPr>
          <a:xfrm>
            <a:off x="8808917" y="2188801"/>
            <a:ext cx="95462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 b="1"/>
            </a:lvl1pPr>
          </a:lstStyle>
          <a:p>
            <a:r>
              <a:rPr dirty="0"/>
              <a:t>IT LAYER </a:t>
            </a:r>
          </a:p>
        </p:txBody>
      </p:sp>
      <p:sp>
        <p:nvSpPr>
          <p:cNvPr id="230" name="TextBox 161"/>
          <p:cNvSpPr txBox="1"/>
          <p:nvPr/>
        </p:nvSpPr>
        <p:spPr>
          <a:xfrm>
            <a:off x="8632945" y="4084328"/>
            <a:ext cx="95462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 b="1"/>
            </a:lvl1pPr>
          </a:lstStyle>
          <a:p>
            <a:r>
              <a:rPr dirty="0"/>
              <a:t>OT LAYER </a:t>
            </a:r>
          </a:p>
        </p:txBody>
      </p:sp>
      <p:sp>
        <p:nvSpPr>
          <p:cNvPr id="231" name="Título 1"/>
          <p:cNvSpPr txBox="1"/>
          <p:nvPr/>
        </p:nvSpPr>
        <p:spPr>
          <a:xfrm>
            <a:off x="1127456" y="22012"/>
            <a:ext cx="9052561" cy="641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 defTabSz="731520">
              <a:lnSpc>
                <a:spcPct val="90000"/>
              </a:lnSpc>
              <a:defRPr sz="2560">
                <a:solidFill>
                  <a:srgbClr val="00B0F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Baddi Custom ABPR Report System Technical Infrastructure Diagram</a:t>
            </a:r>
          </a:p>
        </p:txBody>
      </p:sp>
      <p:sp>
        <p:nvSpPr>
          <p:cNvPr id="232" name="VPN"/>
          <p:cNvSpPr txBox="1"/>
          <p:nvPr/>
        </p:nvSpPr>
        <p:spPr>
          <a:xfrm>
            <a:off x="3727633" y="1191616"/>
            <a:ext cx="30182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900"/>
            </a:lvl1pPr>
          </a:lstStyle>
          <a:p>
            <a:r>
              <a:t>VPN</a:t>
            </a:r>
          </a:p>
        </p:txBody>
      </p:sp>
      <p:pic>
        <p:nvPicPr>
          <p:cNvPr id="233" name="Picture 21" descr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2964" y="4813210"/>
            <a:ext cx="865336" cy="1020657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Picture 13" descr="Picture 13"/>
          <p:cNvPicPr>
            <a:picLocks noChangeAspect="1"/>
          </p:cNvPicPr>
          <p:nvPr/>
        </p:nvPicPr>
        <p:blipFill>
          <a:blip r:embed="rId4"/>
          <a:srcRect t="22066" b="21518"/>
          <a:stretch>
            <a:fillRect/>
          </a:stretch>
        </p:blipFill>
        <p:spPr>
          <a:xfrm>
            <a:off x="4384598" y="3526029"/>
            <a:ext cx="776513" cy="438065"/>
          </a:xfrm>
          <a:prstGeom prst="rect">
            <a:avLst/>
          </a:prstGeom>
          <a:ln w="12700">
            <a:miter lim="400000"/>
          </a:ln>
        </p:spPr>
      </p:pic>
      <p:sp>
        <p:nvSpPr>
          <p:cNvPr id="235" name="MCS Firewall…"/>
          <p:cNvSpPr txBox="1"/>
          <p:nvPr/>
        </p:nvSpPr>
        <p:spPr>
          <a:xfrm>
            <a:off x="4207299" y="3853846"/>
            <a:ext cx="989731" cy="306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defRPr sz="500">
                <a:latin typeface="+mn-lt"/>
                <a:ea typeface="+mn-ea"/>
                <a:cs typeface="+mn-cs"/>
                <a:sym typeface="Helvetica"/>
              </a:defRPr>
            </a:pPr>
            <a:r>
              <a:rPr dirty="0"/>
              <a:t>MCS Firewall</a:t>
            </a:r>
          </a:p>
          <a:p>
            <a:pPr defTabSz="457200">
              <a:defRPr sz="500">
                <a:latin typeface="+mn-lt"/>
                <a:ea typeface="+mn-ea"/>
                <a:cs typeface="+mn-cs"/>
                <a:sym typeface="Helvetica"/>
              </a:defRPr>
            </a:pPr>
            <a:r>
              <a:rPr dirty="0"/>
              <a:t>GDSG-ICS-INB-01-PG-USERS</a:t>
            </a:r>
          </a:p>
        </p:txBody>
      </p:sp>
      <p:pic>
        <p:nvPicPr>
          <p:cNvPr id="236" name="download.jpeg" descr="download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8639" y="2737464"/>
            <a:ext cx="712724" cy="448753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download.jpeg" descr="download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47858" y="4098401"/>
            <a:ext cx="712724" cy="448753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download.jpeg" descr="download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8639" y="3604605"/>
            <a:ext cx="712724" cy="448753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" name="download.jpeg" descr="download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8639" y="4759497"/>
            <a:ext cx="712724" cy="448753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BatchhistoryEx_221"/>
          <p:cNvSpPr txBox="1"/>
          <p:nvPr/>
        </p:nvSpPr>
        <p:spPr>
          <a:xfrm>
            <a:off x="6269813" y="5423685"/>
            <a:ext cx="1020606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900"/>
            </a:lvl1pPr>
          </a:lstStyle>
          <a:p>
            <a:r>
              <a:t>BatchhistoryEx_221</a:t>
            </a:r>
          </a:p>
        </p:txBody>
      </p:sp>
      <p:sp>
        <p:nvSpPr>
          <p:cNvPr id="241" name="BatchhistoryEx_231"/>
          <p:cNvSpPr txBox="1"/>
          <p:nvPr/>
        </p:nvSpPr>
        <p:spPr>
          <a:xfrm>
            <a:off x="6269813" y="5589233"/>
            <a:ext cx="918777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/>
            </a:lvl1pPr>
          </a:lstStyle>
          <a:p>
            <a:r>
              <a:t>BatchhistoryEx_231</a:t>
            </a:r>
          </a:p>
        </p:txBody>
      </p:sp>
      <p:sp>
        <p:nvSpPr>
          <p:cNvPr id="242" name="BatchhistoryEx_381"/>
          <p:cNvSpPr txBox="1"/>
          <p:nvPr/>
        </p:nvSpPr>
        <p:spPr>
          <a:xfrm>
            <a:off x="6245527" y="5731852"/>
            <a:ext cx="918777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/>
            </a:lvl1pPr>
          </a:lstStyle>
          <a:p>
            <a:r>
              <a:t>BatchhistoryEx_381</a:t>
            </a:r>
          </a:p>
        </p:txBody>
      </p:sp>
      <p:sp>
        <p:nvSpPr>
          <p:cNvPr id="243" name="Running"/>
          <p:cNvSpPr txBox="1"/>
          <p:nvPr/>
        </p:nvSpPr>
        <p:spPr>
          <a:xfrm>
            <a:off x="6401024" y="6159605"/>
            <a:ext cx="57139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/>
            </a:lvl1pPr>
          </a:lstStyle>
          <a:p>
            <a:r>
              <a:t>Running</a:t>
            </a:r>
          </a:p>
        </p:txBody>
      </p:sp>
      <p:sp>
        <p:nvSpPr>
          <p:cNvPr id="244" name="Holding"/>
          <p:cNvSpPr txBox="1"/>
          <p:nvPr/>
        </p:nvSpPr>
        <p:spPr>
          <a:xfrm>
            <a:off x="6493797" y="5858064"/>
            <a:ext cx="422237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/>
            </a:lvl1pPr>
          </a:lstStyle>
          <a:p>
            <a:r>
              <a:t>Holding</a:t>
            </a:r>
          </a:p>
        </p:txBody>
      </p:sp>
      <p:sp>
        <p:nvSpPr>
          <p:cNvPr id="245" name="WWALMDB"/>
          <p:cNvSpPr txBox="1"/>
          <p:nvPr/>
        </p:nvSpPr>
        <p:spPr>
          <a:xfrm>
            <a:off x="6395797" y="5983070"/>
            <a:ext cx="707019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/>
            </a:lvl1pPr>
          </a:lstStyle>
          <a:p>
            <a:r>
              <a:t>WWALMDB</a:t>
            </a:r>
          </a:p>
        </p:txBody>
      </p:sp>
      <p:sp>
        <p:nvSpPr>
          <p:cNvPr id="246" name="Straight Arrow Connector 76"/>
          <p:cNvSpPr/>
          <p:nvPr/>
        </p:nvSpPr>
        <p:spPr>
          <a:xfrm>
            <a:off x="6464617" y="5240186"/>
            <a:ext cx="1407921" cy="1"/>
          </a:xfrm>
          <a:prstGeom prst="line">
            <a:avLst/>
          </a:prstGeom>
          <a:ln w="6350">
            <a:solidFill>
              <a:srgbClr val="000000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7" name="Port#1433"/>
          <p:cNvSpPr txBox="1"/>
          <p:nvPr/>
        </p:nvSpPr>
        <p:spPr>
          <a:xfrm>
            <a:off x="6899201" y="5014478"/>
            <a:ext cx="69547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/>
            </a:lvl1pPr>
          </a:lstStyle>
          <a:p>
            <a:r>
              <a:t>Port#1433</a:t>
            </a:r>
          </a:p>
        </p:txBody>
      </p:sp>
      <p:sp>
        <p:nvSpPr>
          <p:cNvPr id="248" name="HC Making Dept.…"/>
          <p:cNvSpPr txBox="1"/>
          <p:nvPr/>
        </p:nvSpPr>
        <p:spPr>
          <a:xfrm>
            <a:off x="1069262" y="4922981"/>
            <a:ext cx="955289" cy="277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600" b="1"/>
            </a:pPr>
            <a:r>
              <a:t>HC Making Dept. </a:t>
            </a:r>
          </a:p>
          <a:p>
            <a:pPr algn="ctr">
              <a:defRPr sz="600" b="1"/>
            </a:pPr>
            <a:r>
              <a:t>USER/Employee From P&amp;G</a:t>
            </a:r>
          </a:p>
        </p:txBody>
      </p:sp>
      <p:sp>
        <p:nvSpPr>
          <p:cNvPr id="249" name="Connector: Elbow 106"/>
          <p:cNvSpPr/>
          <p:nvPr/>
        </p:nvSpPr>
        <p:spPr>
          <a:xfrm rot="10800000" flipH="1">
            <a:off x="2387678" y="3922260"/>
            <a:ext cx="1355987" cy="11188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21369" y="21600"/>
                </a:lnTo>
              </a:path>
            </a:pathLst>
          </a:custGeom>
          <a:ln w="6350">
            <a:solidFill>
              <a:srgbClr val="000000"/>
            </a:solidFill>
            <a:miter/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50" name="Application Admin from HC Making"/>
          <p:cNvSpPr txBox="1"/>
          <p:nvPr/>
        </p:nvSpPr>
        <p:spPr>
          <a:xfrm>
            <a:off x="1289571" y="4531062"/>
            <a:ext cx="1220576" cy="176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600" b="1"/>
            </a:lvl1pPr>
          </a:lstStyle>
          <a:p>
            <a:r>
              <a:t>Application Admin from HC Making</a:t>
            </a:r>
          </a:p>
        </p:txBody>
      </p:sp>
      <p:sp>
        <p:nvSpPr>
          <p:cNvPr id="251" name="Application Engineer from…"/>
          <p:cNvSpPr txBox="1"/>
          <p:nvPr/>
        </p:nvSpPr>
        <p:spPr>
          <a:xfrm>
            <a:off x="1066047" y="3745105"/>
            <a:ext cx="961719" cy="341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100" b="1"/>
            </a:pPr>
            <a:r>
              <a:t> </a:t>
            </a:r>
            <a:r>
              <a:rPr sz="600"/>
              <a:t>Application Engineer from</a:t>
            </a:r>
          </a:p>
          <a:p>
            <a:pPr algn="ctr">
              <a:defRPr sz="600" b="1"/>
            </a:pPr>
            <a:r>
              <a:t> HC Making From P&amp;G</a:t>
            </a:r>
          </a:p>
        </p:txBody>
      </p:sp>
      <p:sp>
        <p:nvSpPr>
          <p:cNvPr id="2" name="TextBox 161">
            <a:extLst>
              <a:ext uri="{FF2B5EF4-FFF2-40B4-BE49-F238E27FC236}">
                <a16:creationId xmlns:a16="http://schemas.microsoft.com/office/drawing/2014/main" id="{46C2B8AE-6BBB-1719-66D3-54C9C5B6158A}"/>
              </a:ext>
            </a:extLst>
          </p:cNvPr>
          <p:cNvSpPr txBox="1"/>
          <p:nvPr/>
        </p:nvSpPr>
        <p:spPr>
          <a:xfrm>
            <a:off x="8785345" y="4236728"/>
            <a:ext cx="95462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 b="1"/>
            </a:lvl1pPr>
          </a:lstStyle>
          <a:p>
            <a:r>
              <a:rPr dirty="0"/>
              <a:t>OT LAYER </a:t>
            </a:r>
          </a:p>
        </p:txBody>
      </p:sp>
      <p:sp>
        <p:nvSpPr>
          <p:cNvPr id="5" name="MCS Firewall…">
            <a:extLst>
              <a:ext uri="{FF2B5EF4-FFF2-40B4-BE49-F238E27FC236}">
                <a16:creationId xmlns:a16="http://schemas.microsoft.com/office/drawing/2014/main" id="{07474E2B-8F1D-4EA9-6B6D-D5045C33F754}"/>
              </a:ext>
            </a:extLst>
          </p:cNvPr>
          <p:cNvSpPr txBox="1"/>
          <p:nvPr/>
        </p:nvSpPr>
        <p:spPr>
          <a:xfrm>
            <a:off x="4359699" y="4006246"/>
            <a:ext cx="989731" cy="306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defRPr sz="500">
                <a:latin typeface="+mn-lt"/>
                <a:ea typeface="+mn-ea"/>
                <a:cs typeface="+mn-cs"/>
                <a:sym typeface="Helvetica"/>
              </a:defRPr>
            </a:pPr>
            <a:r>
              <a:rPr dirty="0"/>
              <a:t>MCS Firewall</a:t>
            </a:r>
          </a:p>
          <a:p>
            <a:pPr defTabSz="457200">
              <a:defRPr sz="500">
                <a:latin typeface="+mn-lt"/>
                <a:ea typeface="+mn-ea"/>
                <a:cs typeface="+mn-cs"/>
                <a:sym typeface="Helvetica"/>
              </a:defRPr>
            </a:pPr>
            <a:r>
              <a:rPr dirty="0"/>
              <a:t>GDSG-ICS-INB-01-PG-USERS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o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o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350</Words>
  <Application>Microsoft Office PowerPoint</Application>
  <PresentationFormat>Widescreen</PresentationFormat>
  <Paragraphs>88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 Baddi Custom ABPR Report System Application Environment Diagram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Baddi Custom ABPR Report System Application Environment Diagram</dc:title>
  <dc:creator>Rana, Deepak</dc:creator>
  <cp:lastModifiedBy>Rana, Deepak</cp:lastModifiedBy>
  <cp:revision>3</cp:revision>
  <dcterms:modified xsi:type="dcterms:W3CDTF">2026-01-06T07:54:46Z</dcterms:modified>
</cp:coreProperties>
</file>